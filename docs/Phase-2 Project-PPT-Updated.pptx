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66928" y="960120"/>
            <a:ext cx="109728" cy="4526280"/>
          </a:xfrm>
          <a:prstGeom prst="rect">
            <a:avLst/>
          </a:prstGeom>
          <a:solidFill>
            <a:srgbClr val="41D7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32688" y="1005840"/>
            <a:ext cx="6858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41D7AA"/>
                </a:solidFill>
                <a:latin typeface="Aptos"/>
              </a:rPr>
              <a:t>PHASE-2 PROJECT PRESENTATION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2688" y="1490472"/>
            <a:ext cx="813816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600" b="1">
                <a:solidFill>
                  <a:srgbClr val="EBF1F7"/>
                </a:solidFill>
                <a:latin typeface="Aptos"/>
              </a:rPr>
              <a:t>AI-Based IoT Cyber
Attack Detection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32688" y="2944368"/>
            <a:ext cx="80467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0">
                <a:solidFill>
                  <a:srgbClr val="9DAEBE"/>
                </a:solidFill>
                <a:latin typeface="Aptos"/>
              </a:rPr>
              <a:t>Live anomaly monitoring with validated supervised threat-classification demonstration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32688" y="3886200"/>
            <a:ext cx="7635240" cy="1005840"/>
          </a:xfrm>
          <a:prstGeom prst="roundRect">
            <a:avLst/>
          </a:prstGeom>
          <a:solidFill>
            <a:srgbClr val="151B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207008" y="4169663"/>
            <a:ext cx="713232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EBF1F7"/>
                </a:solidFill>
                <a:latin typeface="Aptos"/>
              </a:rPr>
              <a:t>Aditya Baskati (1CD23IC002)   |   Anmol Gupta (1CD23IC005)   |   Telheiba (1CD23IC060)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521208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9DAEBE"/>
                </a:solidFill>
                <a:latin typeface="Aptos"/>
              </a:rPr>
              <a:t>Department of CSE (IoT and Cyber Security including Blockchain Technology)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5596128"/>
            <a:ext cx="45720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9DAEBE"/>
                </a:solidFill>
                <a:latin typeface="Aptos"/>
              </a:rPr>
              <a:t>Guided by Dr. Vasantha 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41D7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20040"/>
            <a:ext cx="5943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41D7AA"/>
                </a:solidFill>
                <a:latin typeface="Aptos"/>
              </a:rPr>
              <a:t>SENTINELAI | IOT SECURITY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21792"/>
            <a:ext cx="109728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>
                <a:solidFill>
                  <a:srgbClr val="EBF1F7"/>
                </a:solidFill>
                <a:latin typeface="Aptos"/>
              </a:rPr>
              <a:t>Problem and delivery goal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" y="1417320"/>
            <a:ext cx="3520440" cy="3611880"/>
          </a:xfrm>
          <a:prstGeom prst="roundRect">
            <a:avLst/>
          </a:prstGeom>
          <a:solidFill>
            <a:srgbClr val="151B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21792" y="1417320"/>
            <a:ext cx="73152" cy="3611880"/>
          </a:xfrm>
          <a:prstGeom prst="rect">
            <a:avLst/>
          </a:prstGeom>
          <a:solidFill>
            <a:srgbClr val="4EBF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77824" y="1618488"/>
            <a:ext cx="310896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EBF1F7"/>
                </a:solidFill>
                <a:latin typeface="Aptos"/>
              </a:rPr>
              <a:t>IoT exposure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77824" y="2011680"/>
            <a:ext cx="3108960" cy="28620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9DAEBE"/>
                </a:solidFill>
                <a:latin typeface="Aptos"/>
              </a:rPr>
              <a:t>Resource-constrained devices produce continuous traffic and are exposed to scanning, DDoS, credential attacks, web attacks, and botnet activity.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34256" y="1417320"/>
            <a:ext cx="3520440" cy="3611880"/>
          </a:xfrm>
          <a:prstGeom prst="roundRect">
            <a:avLst/>
          </a:prstGeom>
          <a:solidFill>
            <a:srgbClr val="151B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334256" y="1417320"/>
            <a:ext cx="73152" cy="3611880"/>
          </a:xfrm>
          <a:prstGeom prst="rect">
            <a:avLst/>
          </a:prstGeom>
          <a:solidFill>
            <a:srgbClr val="F5B7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90288" y="1618488"/>
            <a:ext cx="310896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EBF1F7"/>
                </a:solidFill>
                <a:latin typeface="Aptos"/>
              </a:rPr>
              <a:t>Operational gap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90288" y="2011680"/>
            <a:ext cx="3108960" cy="28620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9DAEBE"/>
                </a:solidFill>
                <a:latin typeface="Aptos"/>
              </a:rPr>
              <a:t>Traffic alerts are difficult to inspect without a central view, persistent evidence, and a repeatable way to validate trained ML models.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46720" y="1417320"/>
            <a:ext cx="3520440" cy="3611880"/>
          </a:xfrm>
          <a:prstGeom prst="roundRect">
            <a:avLst/>
          </a:prstGeom>
          <a:solidFill>
            <a:srgbClr val="151B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046720" y="1417320"/>
            <a:ext cx="73152" cy="3611880"/>
          </a:xfrm>
          <a:prstGeom prst="rect">
            <a:avLst/>
          </a:prstGeom>
          <a:solidFill>
            <a:srgbClr val="41D7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02752" y="1618488"/>
            <a:ext cx="310896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EBF1F7"/>
                </a:solidFill>
                <a:latin typeface="Aptos"/>
              </a:rPr>
              <a:t>Project goal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02752" y="2011680"/>
            <a:ext cx="3108960" cy="28620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9DAEBE"/>
                </a:solidFill>
                <a:latin typeface="Aptos"/>
              </a:rPr>
              <a:t>Deliver a local SOC-style application with live anomaly monitoring, alert history, trained model serving, and an auditable supervised demo.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66928" y="6519672"/>
            <a:ext cx="45720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9DAEBE"/>
                </a:solidFill>
                <a:latin typeface="Aptos"/>
              </a:rPr>
              <a:t>Phase-2 Project Presentation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55680" y="6519672"/>
            <a:ext cx="41148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00" b="0">
                <a:solidFill>
                  <a:srgbClr val="9DAEBE"/>
                </a:solidFill>
                <a:latin typeface="Aptos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41D7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20040"/>
            <a:ext cx="5943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41D7AA"/>
                </a:solidFill>
                <a:latin typeface="Aptos"/>
              </a:rPr>
              <a:t>SENTINELAI | IOT SECURITY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21792"/>
            <a:ext cx="109728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>
                <a:solidFill>
                  <a:srgbClr val="EBF1F7"/>
                </a:solidFill>
                <a:latin typeface="Aptos"/>
              </a:rPr>
              <a:t>What has been delivered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" y="1417320"/>
            <a:ext cx="5166360" cy="1627632"/>
          </a:xfrm>
          <a:prstGeom prst="roundRect">
            <a:avLst/>
          </a:prstGeom>
          <a:solidFill>
            <a:srgbClr val="151B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21792" y="1417320"/>
            <a:ext cx="73152" cy="1627632"/>
          </a:xfrm>
          <a:prstGeom prst="rect">
            <a:avLst/>
          </a:prstGeom>
          <a:solidFill>
            <a:srgbClr val="41D7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77824" y="1618488"/>
            <a:ext cx="475488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EBF1F7"/>
                </a:solidFill>
                <a:latin typeface="Aptos"/>
              </a:rPr>
              <a:t>Live monitor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77824" y="2011680"/>
            <a:ext cx="4754880" cy="877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9DAEBE"/>
                </a:solidFill>
                <a:latin typeface="Aptos"/>
              </a:rPr>
              <a:t>Scapy capture, feature extraction, baseline learning, anomaly score, calibrated severity.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26479" y="1417320"/>
            <a:ext cx="5166360" cy="1627632"/>
          </a:xfrm>
          <a:prstGeom prst="roundRect">
            <a:avLst/>
          </a:prstGeom>
          <a:solidFill>
            <a:srgbClr val="151B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126479" y="1417320"/>
            <a:ext cx="73152" cy="1627632"/>
          </a:xfrm>
          <a:prstGeom prst="rect">
            <a:avLst/>
          </a:prstGeom>
          <a:solidFill>
            <a:srgbClr val="4EBF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82512" y="1618488"/>
            <a:ext cx="475488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EBF1F7"/>
                </a:solidFill>
                <a:latin typeface="Aptos"/>
              </a:rPr>
              <a:t>SOC dashboard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82512" y="2011680"/>
            <a:ext cx="4754880" cy="877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9DAEBE"/>
                </a:solidFill>
                <a:latin typeface="Aptos"/>
              </a:rPr>
              <a:t>React dashboard, WebSocket updates, charts, alert feed, statistics, and SQLite history.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" y="3429000"/>
            <a:ext cx="5166360" cy="1627632"/>
          </a:xfrm>
          <a:prstGeom prst="roundRect">
            <a:avLst/>
          </a:prstGeom>
          <a:solidFill>
            <a:srgbClr val="151B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21792" y="3429000"/>
            <a:ext cx="73152" cy="1627632"/>
          </a:xfrm>
          <a:prstGeom prst="rect">
            <a:avLst/>
          </a:prstGeom>
          <a:solidFill>
            <a:srgbClr val="F5B7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77824" y="3630168"/>
            <a:ext cx="475488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EBF1F7"/>
                </a:solidFill>
                <a:latin typeface="Aptos"/>
              </a:rPr>
              <a:t>Supervised models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77824" y="4023360"/>
            <a:ext cx="4754880" cy="877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9DAEBE"/>
                </a:solidFill>
                <a:latin typeface="Aptos"/>
              </a:rPr>
              <a:t>Kitsune Random Forest plus Edge-IIoT binary and 15-class classifiers loaded by FastAPI.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26479" y="3429000"/>
            <a:ext cx="5166360" cy="1627632"/>
          </a:xfrm>
          <a:prstGeom prst="roundRect">
            <a:avLst/>
          </a:prstGeom>
          <a:solidFill>
            <a:srgbClr val="151B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126479" y="3429000"/>
            <a:ext cx="73152" cy="1627632"/>
          </a:xfrm>
          <a:prstGeom prst="rect">
            <a:avLst/>
          </a:prstGeom>
          <a:solidFill>
            <a:srgbClr val="41D7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82512" y="3630168"/>
            <a:ext cx="475488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EBF1F7"/>
                </a:solidFill>
                <a:latin typeface="Aptos"/>
              </a:rPr>
              <a:t>Repeatable proof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82512" y="4023360"/>
            <a:ext cx="4754880" cy="877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9DAEBE"/>
                </a:solidFill>
                <a:latin typeface="Aptos"/>
              </a:rPr>
              <a:t>Held-out Edge-IIoT records can be submitted from the dashboard to the saved model artifacts.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66928" y="6519672"/>
            <a:ext cx="45720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9DAEBE"/>
                </a:solidFill>
                <a:latin typeface="Aptos"/>
              </a:rPr>
              <a:t>Phase-2 Project Presentation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155680" y="6519672"/>
            <a:ext cx="41148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00" b="0">
                <a:solidFill>
                  <a:srgbClr val="9DAEBE"/>
                </a:solidFill>
                <a:latin typeface="Aptos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41D7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20040"/>
            <a:ext cx="5943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41D7AA"/>
                </a:solidFill>
                <a:latin typeface="Aptos"/>
              </a:rPr>
              <a:t>SENTINELAI | IOT SECURITY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21792"/>
            <a:ext cx="109728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>
                <a:solidFill>
                  <a:srgbClr val="EBF1F7"/>
                </a:solidFill>
                <a:latin typeface="Aptos"/>
              </a:rPr>
              <a:t>Implemented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316736"/>
            <a:ext cx="32004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41D7AA"/>
                </a:solidFill>
                <a:latin typeface="Aptos"/>
              </a:rPr>
              <a:t>LIVE MONITORING PATH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664208"/>
            <a:ext cx="1609344" cy="585216"/>
          </a:xfrm>
          <a:prstGeom prst="roundRect">
            <a:avLst/>
          </a:prstGeom>
          <a:solidFill>
            <a:srgbClr val="1B23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49808" y="1773936"/>
            <a:ext cx="1426464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EBF1F7"/>
                </a:solidFill>
                <a:latin typeface="Aptos"/>
              </a:rPr>
              <a:t>Host traffic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276856" y="1728216"/>
            <a:ext cx="393192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100" b="1">
                <a:solidFill>
                  <a:srgbClr val="4EBFF0"/>
                </a:solidFill>
                <a:latin typeface="Aptos"/>
              </a:rPr>
              <a:t>→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871215" y="1664208"/>
            <a:ext cx="1609344" cy="585216"/>
          </a:xfrm>
          <a:prstGeom prst="roundRect">
            <a:avLst/>
          </a:prstGeom>
          <a:solidFill>
            <a:srgbClr val="1B23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962656" y="1773936"/>
            <a:ext cx="1426464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EBF1F7"/>
                </a:solidFill>
                <a:latin typeface="Aptos"/>
              </a:rPr>
              <a:t>Scapy capture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89704" y="1728216"/>
            <a:ext cx="393192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100" b="1">
                <a:solidFill>
                  <a:srgbClr val="4EBFF0"/>
                </a:solidFill>
                <a:latin typeface="Aptos"/>
              </a:rPr>
              <a:t>→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84064" y="1664208"/>
            <a:ext cx="1609344" cy="585216"/>
          </a:xfrm>
          <a:prstGeom prst="roundRect">
            <a:avLst/>
          </a:prstGeom>
          <a:solidFill>
            <a:srgbClr val="1B23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175503" y="1773936"/>
            <a:ext cx="1426464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EBF1F7"/>
                </a:solidFill>
                <a:latin typeface="Aptos"/>
              </a:rPr>
              <a:t>19 live features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702552" y="1728216"/>
            <a:ext cx="393192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100" b="1">
                <a:solidFill>
                  <a:srgbClr val="4EBFF0"/>
                </a:solidFill>
                <a:latin typeface="Aptos"/>
              </a:rPr>
              <a:t>→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296912" y="1664208"/>
            <a:ext cx="1609344" cy="585216"/>
          </a:xfrm>
          <a:prstGeom prst="roundRect">
            <a:avLst/>
          </a:prstGeom>
          <a:solidFill>
            <a:srgbClr val="1B23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88352" y="1773936"/>
            <a:ext cx="1426464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EBF1F7"/>
                </a:solidFill>
                <a:latin typeface="Aptos"/>
              </a:rPr>
              <a:t>Autoencoder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915400" y="1728216"/>
            <a:ext cx="393192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100" b="1">
                <a:solidFill>
                  <a:srgbClr val="4EBFF0"/>
                </a:solidFill>
                <a:latin typeface="Aptos"/>
              </a:rPr>
              <a:t>→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509760" y="1664208"/>
            <a:ext cx="1609344" cy="585216"/>
          </a:xfrm>
          <a:prstGeom prst="roundRect">
            <a:avLst/>
          </a:prstGeom>
          <a:solidFill>
            <a:srgbClr val="163E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601200" y="1773936"/>
            <a:ext cx="1426464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EBF1F7"/>
                </a:solidFill>
                <a:latin typeface="Aptos"/>
              </a:rPr>
              <a:t>Alerts + UI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" y="2971800"/>
            <a:ext cx="36576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F5B743"/>
                </a:solidFill>
                <a:latin typeface="Aptos"/>
              </a:rPr>
              <a:t>SUPERVISED VALIDATION PATH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58368" y="3319272"/>
            <a:ext cx="1609344" cy="585216"/>
          </a:xfrm>
          <a:prstGeom prst="roundRect">
            <a:avLst/>
          </a:prstGeom>
          <a:solidFill>
            <a:srgbClr val="1B23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49808" y="3429000"/>
            <a:ext cx="1426464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EBF1F7"/>
                </a:solidFill>
                <a:latin typeface="Aptos"/>
              </a:rPr>
              <a:t>Held-out test row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276856" y="3383280"/>
            <a:ext cx="393192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100" b="1">
                <a:solidFill>
                  <a:srgbClr val="F5B743"/>
                </a:solidFill>
                <a:latin typeface="Aptos"/>
              </a:rPr>
              <a:t>→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2871215" y="3319272"/>
            <a:ext cx="1609344" cy="585216"/>
          </a:xfrm>
          <a:prstGeom prst="roundRect">
            <a:avLst/>
          </a:prstGeom>
          <a:solidFill>
            <a:srgbClr val="1B23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962656" y="3429000"/>
            <a:ext cx="1426464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EBF1F7"/>
                </a:solidFill>
                <a:latin typeface="Aptos"/>
              </a:rPr>
              <a:t>60 named features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489704" y="3383280"/>
            <a:ext cx="393192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100" b="1">
                <a:solidFill>
                  <a:srgbClr val="F5B743"/>
                </a:solidFill>
                <a:latin typeface="Aptos"/>
              </a:rPr>
              <a:t>→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084064" y="3319272"/>
            <a:ext cx="1609344" cy="585216"/>
          </a:xfrm>
          <a:prstGeom prst="roundRect">
            <a:avLst/>
          </a:prstGeom>
          <a:solidFill>
            <a:srgbClr val="3A30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175503" y="3429000"/>
            <a:ext cx="1426464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EBF1F7"/>
                </a:solidFill>
                <a:latin typeface="Aptos"/>
              </a:rPr>
              <a:t>Saved Edge-IIoT model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702552" y="3383280"/>
            <a:ext cx="393192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100" b="1">
                <a:solidFill>
                  <a:srgbClr val="F5B743"/>
                </a:solidFill>
                <a:latin typeface="Aptos"/>
              </a:rPr>
              <a:t>→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296912" y="3319272"/>
            <a:ext cx="1609344" cy="585216"/>
          </a:xfrm>
          <a:prstGeom prst="roundRect">
            <a:avLst/>
          </a:prstGeom>
          <a:solidFill>
            <a:srgbClr val="1B23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388352" y="3429000"/>
            <a:ext cx="1426464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EBF1F7"/>
                </a:solidFill>
                <a:latin typeface="Aptos"/>
              </a:rPr>
              <a:t>Prediction API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915400" y="3383280"/>
            <a:ext cx="393192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100" b="1">
                <a:solidFill>
                  <a:srgbClr val="F5B743"/>
                </a:solidFill>
                <a:latin typeface="Aptos"/>
              </a:rPr>
              <a:t>→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9509760" y="3319272"/>
            <a:ext cx="1609344" cy="585216"/>
          </a:xfrm>
          <a:prstGeom prst="roundRect">
            <a:avLst/>
          </a:prstGeom>
          <a:solidFill>
            <a:srgbClr val="1B23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601200" y="3429000"/>
            <a:ext cx="1426464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EBF1F7"/>
                </a:solidFill>
                <a:latin typeface="Aptos"/>
              </a:rPr>
              <a:t>Dashboard demo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58368" y="4617720"/>
            <a:ext cx="10835640" cy="786384"/>
          </a:xfrm>
          <a:prstGeom prst="roundRect">
            <a:avLst/>
          </a:prstGeom>
          <a:solidFill>
            <a:srgbClr val="36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14400" y="4846320"/>
            <a:ext cx="1033272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EBF1F7"/>
                </a:solidFill>
                <a:latin typeface="Aptos"/>
              </a:rPr>
              <a:t>Important boundary: live Scapy features are not yet compatible with the 60-feature Edge-IIoT or 116-feature Kitsune schemas. The supervised models are not claimed as live packet classifiers.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66928" y="6519672"/>
            <a:ext cx="45720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9DAEBE"/>
                </a:solidFill>
                <a:latin typeface="Aptos"/>
              </a:rPr>
              <a:t>Phase-2 Project Presentation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155680" y="6519672"/>
            <a:ext cx="41148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00" b="0">
                <a:solidFill>
                  <a:srgbClr val="9DAEBE"/>
                </a:solidFill>
                <a:latin typeface="Aptos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41D7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20040"/>
            <a:ext cx="5943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41D7AA"/>
                </a:solidFill>
                <a:latin typeface="Aptos"/>
              </a:rPr>
              <a:t>SENTINELAI | IOT SECURITY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21792"/>
            <a:ext cx="109728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>
                <a:solidFill>
                  <a:srgbClr val="EBF1F7"/>
                </a:solidFill>
                <a:latin typeface="Aptos"/>
              </a:rPr>
              <a:t>Live anomaly-monitoring path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1417320"/>
            <a:ext cx="6492240" cy="41148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EBF1F7"/>
                </a:solidFill>
                <a:latin typeface="Aptos"/>
              </a:defRPr>
            </a:pPr>
            <a:r>
              <a:t>Scapy observes actual packets on the host network interface.</a:t>
            </a:r>
          </a:p>
          <a:p>
            <a:pPr>
              <a:spcAft>
                <a:spcPts val="1200"/>
              </a:spcAft>
              <a:defRPr sz="1800">
                <a:solidFill>
                  <a:srgbClr val="EBF1F7"/>
                </a:solidFill>
                <a:latin typeface="Aptos"/>
              </a:defRPr>
            </a:pPr>
            <a:r>
              <a:t>The live engine waits through a grace period, learns a baseline, then uses reconstruction error to flag anomalies.</a:t>
            </a:r>
          </a:p>
          <a:p>
            <a:pPr>
              <a:spcAft>
                <a:spcPts val="1200"/>
              </a:spcAft>
              <a:defRPr sz="1800">
                <a:solidFill>
                  <a:srgbClr val="EBF1F7"/>
                </a:solidFill>
                <a:latin typeface="Aptos"/>
              </a:defRPr>
            </a:pPr>
            <a:r>
              <a:t>Alerts are persisted to SQLite and broadcast to the dashboard through WebSockets.</a:t>
            </a:r>
          </a:p>
          <a:p>
            <a:pPr>
              <a:spcAft>
                <a:spcPts val="1200"/>
              </a:spcAft>
              <a:defRPr sz="1800">
                <a:solidFill>
                  <a:srgbClr val="EBF1F7"/>
                </a:solidFill>
                <a:latin typeface="Aptos"/>
              </a:defRPr>
            </a:pPr>
            <a:r>
              <a:t>Displayed attack labels are explanatory heuristics after an anomaly; they are not the supervised attack-type model output.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571231" y="1508760"/>
            <a:ext cx="3566160" cy="1298448"/>
          </a:xfrm>
          <a:prstGeom prst="roundRect">
            <a:avLst/>
          </a:prstGeom>
          <a:solidFill>
            <a:srgbClr val="151B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571231" y="1508760"/>
            <a:ext cx="73152" cy="1298448"/>
          </a:xfrm>
          <a:prstGeom prst="rect">
            <a:avLst/>
          </a:prstGeom>
          <a:solidFill>
            <a:srgbClr val="41D7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827263" y="1709928"/>
            <a:ext cx="3154679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EBF1F7"/>
                </a:solidFill>
                <a:latin typeface="Aptos"/>
              </a:rPr>
              <a:t>Live evidence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827263" y="2103120"/>
            <a:ext cx="3154679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9DAEBE"/>
                </a:solidFill>
                <a:latin typeface="Aptos"/>
              </a:rPr>
              <a:t>Backend health, sensor stream state, alert feed, charts, and persisted history.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571231" y="3063240"/>
            <a:ext cx="3566160" cy="1298448"/>
          </a:xfrm>
          <a:prstGeom prst="roundRect">
            <a:avLst/>
          </a:prstGeom>
          <a:solidFill>
            <a:srgbClr val="151B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571231" y="3063240"/>
            <a:ext cx="73152" cy="1298448"/>
          </a:xfrm>
          <a:prstGeom prst="rect">
            <a:avLst/>
          </a:prstGeom>
          <a:solidFill>
            <a:srgbClr val="4EBF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827263" y="3264408"/>
            <a:ext cx="3154679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EBF1F7"/>
                </a:solidFill>
                <a:latin typeface="Aptos"/>
              </a:rPr>
              <a:t>Why autoencoder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827263" y="3657600"/>
            <a:ext cx="3154679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9DAEBE"/>
                </a:solidFill>
                <a:latin typeface="Aptos"/>
              </a:rPr>
              <a:t>It can detect unusual traffic without requiring labelled live packets.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571231" y="4617720"/>
            <a:ext cx="3566160" cy="914400"/>
          </a:xfrm>
          <a:prstGeom prst="roundRect">
            <a:avLst/>
          </a:prstGeom>
          <a:solidFill>
            <a:srgbClr val="151B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571231" y="4617720"/>
            <a:ext cx="73152" cy="914400"/>
          </a:xfrm>
          <a:prstGeom prst="rect">
            <a:avLst/>
          </a:prstGeom>
          <a:solidFill>
            <a:srgbClr val="F167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827263" y="4818888"/>
            <a:ext cx="3154679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EBF1F7"/>
                </a:solidFill>
                <a:latin typeface="Aptos"/>
              </a:rPr>
              <a:t>Current response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827263" y="5212080"/>
            <a:ext cx="3154679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9DAEBE"/>
                </a:solidFill>
                <a:latin typeface="Aptos"/>
              </a:rPr>
              <a:t>Alerting and logging only. No firewall automation.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66928" y="6519672"/>
            <a:ext cx="45720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9DAEBE"/>
                </a:solidFill>
                <a:latin typeface="Aptos"/>
              </a:rPr>
              <a:t>Phase-2 Project Presentation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155680" y="6519672"/>
            <a:ext cx="41148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00" b="0">
                <a:solidFill>
                  <a:srgbClr val="9DAEBE"/>
                </a:solidFill>
                <a:latin typeface="Aptos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41D7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20040"/>
            <a:ext cx="5943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41D7AA"/>
                </a:solidFill>
                <a:latin typeface="Aptos"/>
              </a:rPr>
              <a:t>SENTINELAI | IOT SECURITY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21792"/>
            <a:ext cx="109728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>
                <a:solidFill>
                  <a:srgbClr val="EBF1F7"/>
                </a:solidFill>
                <a:latin typeface="Aptos"/>
              </a:rPr>
              <a:t>Trained supervised models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58368" y="1417320"/>
            <a:ext cx="3520440" cy="3474720"/>
          </a:xfrm>
          <a:prstGeom prst="roundRect">
            <a:avLst/>
          </a:prstGeom>
          <a:solidFill>
            <a:srgbClr val="151B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58368" y="1417320"/>
            <a:ext cx="73152" cy="3474720"/>
          </a:xfrm>
          <a:prstGeom prst="rect">
            <a:avLst/>
          </a:prstGeom>
          <a:solidFill>
            <a:srgbClr val="4EBF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618488"/>
            <a:ext cx="310896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EBF1F7"/>
                </a:solidFill>
                <a:latin typeface="Aptos"/>
              </a:rPr>
              <a:t>Kitsune Random Forest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011680"/>
            <a:ext cx="3108960" cy="27249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9DAEBE"/>
                </a:solidFill>
                <a:latin typeface="Aptos"/>
              </a:rPr>
              <a:t>Binary benign/attack classifier.
Input contract: 116 ordered Kitsune features.
Loaded by FastAPI and available through a validated prediction endpoint.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34256" y="1417320"/>
            <a:ext cx="3520440" cy="3474720"/>
          </a:xfrm>
          <a:prstGeom prst="roundRect">
            <a:avLst/>
          </a:prstGeom>
          <a:solidFill>
            <a:srgbClr val="151B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334256" y="1417320"/>
            <a:ext cx="73152" cy="3474720"/>
          </a:xfrm>
          <a:prstGeom prst="rect">
            <a:avLst/>
          </a:prstGeom>
          <a:solidFill>
            <a:srgbClr val="41D7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90288" y="1618488"/>
            <a:ext cx="310896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EBF1F7"/>
                </a:solidFill>
                <a:latin typeface="Aptos"/>
              </a:rPr>
              <a:t>Edge-IIoT binary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90288" y="2011680"/>
            <a:ext cx="3108960" cy="27249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9DAEBE"/>
                </a:solidFill>
                <a:latin typeface="Aptos"/>
              </a:rPr>
              <a:t>Binary benign/attack classifier.
Input contract: 60 named Edge-IIoT features.
Trained and evaluated on Kaggle.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10144" y="1417320"/>
            <a:ext cx="3520440" cy="3474720"/>
          </a:xfrm>
          <a:prstGeom prst="roundRect">
            <a:avLst/>
          </a:prstGeom>
          <a:solidFill>
            <a:srgbClr val="151B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010144" y="1417320"/>
            <a:ext cx="73152" cy="3474720"/>
          </a:xfrm>
          <a:prstGeom prst="rect">
            <a:avLst/>
          </a:prstGeom>
          <a:solidFill>
            <a:srgbClr val="F5B7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66175" y="1618488"/>
            <a:ext cx="310896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EBF1F7"/>
                </a:solidFill>
                <a:latin typeface="Aptos"/>
              </a:rPr>
              <a:t>Edge-IIoT attack type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66175" y="2011680"/>
            <a:ext cx="3108960" cy="27249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9DAEBE"/>
                </a:solidFill>
                <a:latin typeface="Aptos"/>
              </a:rPr>
              <a:t>15-class threat attribution.
Examples: DDoS, Backdoor, MITM, Ransomware, SQL injection, XSS.
Input contract: the same 60 named features.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66928" y="6519672"/>
            <a:ext cx="45720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9DAEBE"/>
                </a:solidFill>
                <a:latin typeface="Aptos"/>
              </a:rPr>
              <a:t>Phase-2 Project Presentation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55680" y="6519672"/>
            <a:ext cx="41148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00" b="0">
                <a:solidFill>
                  <a:srgbClr val="9DAEBE"/>
                </a:solidFill>
                <a:latin typeface="Aptos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41D7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20040"/>
            <a:ext cx="5943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41D7AA"/>
                </a:solidFill>
                <a:latin typeface="Aptos"/>
              </a:rPr>
              <a:t>SENTINELAI | IOT SECURITY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21792"/>
            <a:ext cx="109728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>
                <a:solidFill>
                  <a:srgbClr val="EBF1F7"/>
                </a:solidFill>
                <a:latin typeface="Aptos"/>
              </a:rPr>
              <a:t>Dataset and training workflow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76656" y="1828800"/>
            <a:ext cx="1536192" cy="585216"/>
          </a:xfrm>
          <a:prstGeom prst="roundRect">
            <a:avLst/>
          </a:prstGeom>
          <a:solidFill>
            <a:srgbClr val="1B23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8096" y="1938528"/>
            <a:ext cx="1353312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EBF1F7"/>
                </a:solidFill>
                <a:latin typeface="Aptos"/>
              </a:rPr>
              <a:t>Kaggle
Edge-IIoT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212848" y="1901952"/>
            <a:ext cx="393192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100" b="1">
                <a:solidFill>
                  <a:srgbClr val="4EBFF0"/>
                </a:solidFill>
                <a:latin typeface="Aptos"/>
              </a:rPr>
              <a:t>→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889504" y="1828800"/>
            <a:ext cx="1536192" cy="585216"/>
          </a:xfrm>
          <a:prstGeom prst="roundRect">
            <a:avLst/>
          </a:prstGeom>
          <a:solidFill>
            <a:srgbClr val="1B23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980944" y="1938528"/>
            <a:ext cx="1353312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EBF1F7"/>
                </a:solidFill>
                <a:latin typeface="Aptos"/>
              </a:rPr>
              <a:t>CSV sampling
and cleaning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25696" y="1901952"/>
            <a:ext cx="393192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100" b="1">
                <a:solidFill>
                  <a:srgbClr val="4EBFF0"/>
                </a:solidFill>
                <a:latin typeface="Aptos"/>
              </a:rPr>
              <a:t>→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102352" y="1828800"/>
            <a:ext cx="1536192" cy="585216"/>
          </a:xfrm>
          <a:prstGeom prst="roundRect">
            <a:avLst/>
          </a:prstGeom>
          <a:solidFill>
            <a:srgbClr val="1B23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193792" y="1938528"/>
            <a:ext cx="1353312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EBF1F7"/>
                </a:solidFill>
                <a:latin typeface="Aptos"/>
              </a:rPr>
              <a:t>Feature
preprocessing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38544" y="1901952"/>
            <a:ext cx="393192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100" b="1">
                <a:solidFill>
                  <a:srgbClr val="4EBFF0"/>
                </a:solidFill>
                <a:latin typeface="Aptos"/>
              </a:rPr>
              <a:t>→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0" y="1828800"/>
            <a:ext cx="1536192" cy="585216"/>
          </a:xfrm>
          <a:prstGeom prst="roundRect">
            <a:avLst/>
          </a:prstGeom>
          <a:solidFill>
            <a:srgbClr val="1B23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406640" y="1938528"/>
            <a:ext cx="1353312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EBF1F7"/>
                </a:solidFill>
                <a:latin typeface="Aptos"/>
              </a:rPr>
              <a:t>Train/test
split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851392" y="1901952"/>
            <a:ext cx="393192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100" b="1">
                <a:solidFill>
                  <a:srgbClr val="4EBFF0"/>
                </a:solidFill>
                <a:latin typeface="Aptos"/>
              </a:rPr>
              <a:t>→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528048" y="1828800"/>
            <a:ext cx="1536192" cy="585216"/>
          </a:xfrm>
          <a:prstGeom prst="roundRect">
            <a:avLst/>
          </a:prstGeom>
          <a:solidFill>
            <a:srgbClr val="1B23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619488" y="1938528"/>
            <a:ext cx="1353312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EBF1F7"/>
                </a:solidFill>
                <a:latin typeface="Aptos"/>
              </a:rPr>
              <a:t>Saved sklearn
pipelines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76656" y="303580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EBF1F7"/>
                </a:solidFill>
                <a:latin typeface="Aptos"/>
              </a:rPr>
              <a:t>Training subset: 49,301 rows, 60 raw features, ML-EdgeIIoT-dataset.csv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76656" y="3886200"/>
            <a:ext cx="10789920" cy="960120"/>
          </a:xfrm>
          <a:prstGeom prst="roundRect">
            <a:avLst/>
          </a:prstGeom>
          <a:solidFill>
            <a:srgbClr val="3A30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87552" y="4178808"/>
            <a:ext cx="1014984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EBF1F7"/>
                </a:solidFill>
                <a:latin typeface="Aptos"/>
              </a:rPr>
              <a:t>Evaluation method: random row-level hold-out. This supports demonstration of the training workflow; it is not a cross-capture or real-deployment generalisation claim.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66928" y="6519672"/>
            <a:ext cx="45720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9DAEBE"/>
                </a:solidFill>
                <a:latin typeface="Aptos"/>
              </a:rPr>
              <a:t>Phase-2 Project Presentation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155680" y="6519672"/>
            <a:ext cx="41148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00" b="0">
                <a:solidFill>
                  <a:srgbClr val="9DAEBE"/>
                </a:solidFill>
                <a:latin typeface="Aptos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41D7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20040"/>
            <a:ext cx="5943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41D7AA"/>
                </a:solidFill>
                <a:latin typeface="Aptos"/>
              </a:rPr>
              <a:t>SENTINELAI | IOT SECURITY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21792"/>
            <a:ext cx="109728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>
                <a:solidFill>
                  <a:srgbClr val="EBF1F7"/>
                </a:solidFill>
                <a:latin typeface="Aptos"/>
              </a:rPr>
              <a:t>Measured Edge-IIoT results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5212080" cy="1517904"/>
          </a:xfrm>
          <a:prstGeom prst="roundRect">
            <a:avLst/>
          </a:prstGeom>
          <a:solidFill>
            <a:srgbClr val="151B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618488"/>
            <a:ext cx="30175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41D7AA"/>
                </a:solidFill>
                <a:latin typeface="Aptos"/>
              </a:rPr>
              <a:t>BINARY MODEL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929384"/>
            <a:ext cx="292608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900" b="1">
                <a:solidFill>
                  <a:srgbClr val="EBF1F7"/>
                </a:solidFill>
                <a:latin typeface="Aptos"/>
              </a:rPr>
              <a:t>1.0000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33087" y="2167128"/>
            <a:ext cx="141732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200" b="1">
                <a:solidFill>
                  <a:srgbClr val="9DAEBE"/>
                </a:solidFill>
                <a:latin typeface="Aptos"/>
              </a:rPr>
              <a:t>Accuracy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72200" y="1417320"/>
            <a:ext cx="5212080" cy="1517904"/>
          </a:xfrm>
          <a:prstGeom prst="roundRect">
            <a:avLst/>
          </a:prstGeom>
          <a:solidFill>
            <a:srgbClr val="151B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46520" y="1618488"/>
            <a:ext cx="30175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41D7AA"/>
                </a:solidFill>
                <a:latin typeface="Aptos"/>
              </a:rPr>
              <a:t>BINARY MODEL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46520" y="1929384"/>
            <a:ext cx="292608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900" b="1">
                <a:solidFill>
                  <a:srgbClr val="EBF1F7"/>
                </a:solidFill>
                <a:latin typeface="Aptos"/>
              </a:rPr>
              <a:t>1.0000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65208" y="2167128"/>
            <a:ext cx="141732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200" b="1">
                <a:solidFill>
                  <a:srgbClr val="9DAEBE"/>
                </a:solidFill>
                <a:latin typeface="Aptos"/>
              </a:rPr>
              <a:t>Macro F1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3291839"/>
            <a:ext cx="5212080" cy="1517904"/>
          </a:xfrm>
          <a:prstGeom prst="roundRect">
            <a:avLst/>
          </a:prstGeom>
          <a:solidFill>
            <a:srgbClr val="151B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3493008"/>
            <a:ext cx="30175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F5B743"/>
                </a:solidFill>
                <a:latin typeface="Aptos"/>
              </a:rPr>
              <a:t>ATTACK-TYPE MODEL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3803904"/>
            <a:ext cx="292608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900" b="1">
                <a:solidFill>
                  <a:srgbClr val="EBF1F7"/>
                </a:solidFill>
                <a:latin typeface="Aptos"/>
              </a:rPr>
              <a:t>0.9894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33087" y="4041648"/>
            <a:ext cx="141732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200" b="1">
                <a:solidFill>
                  <a:srgbClr val="9DAEBE"/>
                </a:solidFill>
                <a:latin typeface="Aptos"/>
              </a:rPr>
              <a:t>Accuracy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72200" y="3291839"/>
            <a:ext cx="5212080" cy="1517904"/>
          </a:xfrm>
          <a:prstGeom prst="roundRect">
            <a:avLst/>
          </a:prstGeom>
          <a:solidFill>
            <a:srgbClr val="151B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46520" y="3493008"/>
            <a:ext cx="30175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F5B743"/>
                </a:solidFill>
                <a:latin typeface="Aptos"/>
              </a:rPr>
              <a:t>ATTACK-TYPE MODEL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46520" y="3803904"/>
            <a:ext cx="292608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900" b="1">
                <a:solidFill>
                  <a:srgbClr val="EBF1F7"/>
                </a:solidFill>
                <a:latin typeface="Aptos"/>
              </a:rPr>
              <a:t>0.9760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665208" y="4041648"/>
            <a:ext cx="141732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200" b="1">
                <a:solidFill>
                  <a:srgbClr val="9DAEBE"/>
                </a:solidFill>
                <a:latin typeface="Aptos"/>
              </a:rPr>
              <a:t>Macro F1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76656" y="541324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0">
                <a:solidFill>
                  <a:srgbClr val="9DAEBE"/>
                </a:solidFill>
                <a:latin typeface="Aptos"/>
              </a:rPr>
              <a:t>Test support: 9,861 records. Attack-type classifier covers 15 labels.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66928" y="6519672"/>
            <a:ext cx="45720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9DAEBE"/>
                </a:solidFill>
                <a:latin typeface="Aptos"/>
              </a:rPr>
              <a:t>Phase-2 Project Presentation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155680" y="6519672"/>
            <a:ext cx="41148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00" b="0">
                <a:solidFill>
                  <a:srgbClr val="9DAEBE"/>
                </a:solidFill>
                <a:latin typeface="Aptos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41D7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20040"/>
            <a:ext cx="5943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41D7AA"/>
                </a:solidFill>
                <a:latin typeface="Aptos"/>
              </a:rPr>
              <a:t>SENTINELAI | IOT SECURITY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21792"/>
            <a:ext cx="109728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>
                <a:solidFill>
                  <a:srgbClr val="EBF1F7"/>
                </a:solidFill>
                <a:latin typeface="Aptos"/>
              </a:rPr>
              <a:t>Dashboard demonstration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76656" y="1353312"/>
            <a:ext cx="3383280" cy="3566160"/>
          </a:xfrm>
          <a:prstGeom prst="roundRect">
            <a:avLst/>
          </a:prstGeom>
          <a:solidFill>
            <a:srgbClr val="151B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76656" y="1353312"/>
            <a:ext cx="73152" cy="3566160"/>
          </a:xfrm>
          <a:prstGeom prst="rect">
            <a:avLst/>
          </a:prstGeom>
          <a:solidFill>
            <a:srgbClr val="41D7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32688" y="1554480"/>
            <a:ext cx="29718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EBF1F7"/>
                </a:solidFill>
                <a:latin typeface="Aptos"/>
              </a:rPr>
              <a:t>1. System readiness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" y="1947672"/>
            <a:ext cx="2971800" cy="2816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9DAEBE"/>
                </a:solidFill>
                <a:latin typeface="Aptos"/>
              </a:rPr>
              <a:t>Open the SOC dashboard. Verify live sensor stream and all persisted classifiers show READY.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07408" y="1353312"/>
            <a:ext cx="3383280" cy="3566160"/>
          </a:xfrm>
          <a:prstGeom prst="roundRect">
            <a:avLst/>
          </a:prstGeom>
          <a:solidFill>
            <a:srgbClr val="151B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407408" y="1353312"/>
            <a:ext cx="73152" cy="3566160"/>
          </a:xfrm>
          <a:prstGeom prst="rect">
            <a:avLst/>
          </a:prstGeom>
          <a:solidFill>
            <a:srgbClr val="4EBF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63440" y="1554480"/>
            <a:ext cx="29718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EBF1F7"/>
                </a:solidFill>
                <a:latin typeface="Aptos"/>
              </a:rPr>
              <a:t>2. Live monitoring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63440" y="1947672"/>
            <a:ext cx="2971800" cy="2816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9DAEBE"/>
                </a:solidFill>
                <a:latin typeface="Aptos"/>
              </a:rPr>
              <a:t>Show the live anomaly status, alert feed, severity and protocol charts, and historical database evidence.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38160" y="1353312"/>
            <a:ext cx="3383280" cy="3566160"/>
          </a:xfrm>
          <a:prstGeom prst="roundRect">
            <a:avLst/>
          </a:prstGeom>
          <a:solidFill>
            <a:srgbClr val="151B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138160" y="1353312"/>
            <a:ext cx="73152" cy="3566160"/>
          </a:xfrm>
          <a:prstGeom prst="rect">
            <a:avLst/>
          </a:prstGeom>
          <a:solidFill>
            <a:srgbClr val="F5B7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94192" y="1554480"/>
            <a:ext cx="29718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EBF1F7"/>
                </a:solidFill>
                <a:latin typeface="Aptos"/>
              </a:rPr>
              <a:t>3. Supervised proof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94192" y="1947672"/>
            <a:ext cx="2971800" cy="2816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9DAEBE"/>
                </a:solidFill>
                <a:latin typeface="Aptos"/>
              </a:rPr>
              <a:t>Choose held-out records in Supervised model verification and run the binary or attack-type classifier.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76656" y="5321808"/>
            <a:ext cx="10844784" cy="566928"/>
          </a:xfrm>
          <a:prstGeom prst="roundRect">
            <a:avLst/>
          </a:prstGeom>
          <a:solidFill>
            <a:srgbClr val="163E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5513832"/>
            <a:ext cx="1033272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EBF1F7"/>
                </a:solidFill>
                <a:latin typeface="Aptos"/>
              </a:rPr>
              <a:t>Repeatable check completed: 2/2 binary and 5/5 attack-type records matched their expected labels.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66928" y="6519672"/>
            <a:ext cx="45720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9DAEBE"/>
                </a:solidFill>
                <a:latin typeface="Aptos"/>
              </a:rPr>
              <a:t>Phase-2 Project Presentation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155680" y="6519672"/>
            <a:ext cx="41148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00" b="0">
                <a:solidFill>
                  <a:srgbClr val="9DAEBE"/>
                </a:solidFill>
                <a:latin typeface="Aptos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41D7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20040"/>
            <a:ext cx="5943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41D7AA"/>
                </a:solidFill>
                <a:latin typeface="Aptos"/>
              </a:rPr>
              <a:t>SENTINELAI | IOT SECURITY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21792"/>
            <a:ext cx="109728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>
                <a:solidFill>
                  <a:srgbClr val="EBF1F7"/>
                </a:solidFill>
                <a:latin typeface="Aptos"/>
              </a:rPr>
              <a:t>Scope: what we claim and what remains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76656" y="1353312"/>
            <a:ext cx="5166360" cy="4160520"/>
          </a:xfrm>
          <a:prstGeom prst="roundRect">
            <a:avLst/>
          </a:prstGeom>
          <a:solidFill>
            <a:srgbClr val="163E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50976" y="1627632"/>
            <a:ext cx="219456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41D7AA"/>
                </a:solidFill>
                <a:latin typeface="Aptos"/>
              </a:rPr>
              <a:t>IMPLEMENTED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50976" y="2057400"/>
            <a:ext cx="4434840" cy="29718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200"/>
              </a:spcAft>
              <a:defRPr sz="1600">
                <a:solidFill>
                  <a:srgbClr val="EBF1F7"/>
                </a:solidFill>
                <a:latin typeface="Aptos"/>
              </a:defRPr>
            </a:pPr>
            <a:r>
              <a:t>Live host traffic anomaly monitoring</a:t>
            </a:r>
          </a:p>
          <a:p>
            <a:pPr>
              <a:spcAft>
                <a:spcPts val="1200"/>
              </a:spcAft>
              <a:defRPr sz="1600">
                <a:solidFill>
                  <a:srgbClr val="EBF1F7"/>
                </a:solidFill>
                <a:latin typeface="Aptos"/>
              </a:defRPr>
            </a:pPr>
            <a:r>
              <a:t>Central dashboard and persistent alert logging</a:t>
            </a:r>
          </a:p>
          <a:p>
            <a:pPr>
              <a:spcAft>
                <a:spcPts val="1200"/>
              </a:spcAft>
              <a:defRPr sz="1600">
                <a:solidFill>
                  <a:srgbClr val="EBF1F7"/>
                </a:solidFill>
                <a:latin typeface="Aptos"/>
              </a:defRPr>
            </a:pPr>
            <a:r>
              <a:t>Saved supervised model inference endpoints</a:t>
            </a:r>
          </a:p>
          <a:p>
            <a:pPr>
              <a:spcAft>
                <a:spcPts val="1200"/>
              </a:spcAft>
              <a:defRPr sz="1600">
                <a:solidFill>
                  <a:srgbClr val="EBF1F7"/>
                </a:solidFill>
                <a:latin typeface="Aptos"/>
              </a:defRPr>
            </a:pPr>
            <a:r>
              <a:t>Held-out Edge-IIoT supervised demonstration</a:t>
            </a:r>
          </a:p>
          <a:p>
            <a:pPr>
              <a:spcAft>
                <a:spcPts val="1200"/>
              </a:spcAft>
              <a:defRPr sz="1600">
                <a:solidFill>
                  <a:srgbClr val="EBF1F7"/>
                </a:solidFill>
                <a:latin typeface="Aptos"/>
              </a:defRPr>
            </a:pPr>
            <a:r>
              <a:t>Docker deployment configuration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36792" y="1353312"/>
            <a:ext cx="5166360" cy="4160520"/>
          </a:xfrm>
          <a:prstGeom prst="roundRect">
            <a:avLst/>
          </a:prstGeom>
          <a:solidFill>
            <a:srgbClr val="36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611112" y="1627632"/>
            <a:ext cx="32004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F5B743"/>
                </a:solidFill>
                <a:latin typeface="Aptos"/>
              </a:rPr>
              <a:t>NEXT ENGINEERING STEP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11112" y="2057400"/>
            <a:ext cx="4434840" cy="29718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200"/>
              </a:spcAft>
              <a:defRPr sz="1600">
                <a:solidFill>
                  <a:srgbClr val="EBF1F7"/>
                </a:solidFill>
                <a:latin typeface="Aptos"/>
              </a:defRPr>
            </a:pPr>
            <a:r>
              <a:t>Build and validate a TShark/Kitsune-compatible live feature extractor</a:t>
            </a:r>
          </a:p>
          <a:p>
            <a:pPr>
              <a:spcAft>
                <a:spcPts val="1200"/>
              </a:spcAft>
              <a:defRPr sz="1600">
                <a:solidFill>
                  <a:srgbClr val="EBF1F7"/>
                </a:solidFill>
                <a:latin typeface="Aptos"/>
              </a:defRPr>
            </a:pPr>
            <a:r>
              <a:t>Connect live output to 60/116 supervised feature schemas</a:t>
            </a:r>
          </a:p>
          <a:p>
            <a:pPr>
              <a:spcAft>
                <a:spcPts val="1200"/>
              </a:spcAft>
              <a:defRPr sz="1600">
                <a:solidFill>
                  <a:srgbClr val="EBF1F7"/>
                </a:solidFill>
                <a:latin typeface="Aptos"/>
              </a:defRPr>
            </a:pPr>
            <a:r>
              <a:t>Evaluate across separate captures/devices</a:t>
            </a:r>
          </a:p>
          <a:p>
            <a:pPr>
              <a:spcAft>
                <a:spcPts val="1200"/>
              </a:spcAft>
              <a:defRPr sz="1600">
                <a:solidFill>
                  <a:srgbClr val="EBF1F7"/>
                </a:solidFill>
                <a:latin typeface="Aptos"/>
              </a:defRPr>
            </a:pPr>
            <a:r>
              <a:t>Add response automation only after controlled testing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928" y="6519672"/>
            <a:ext cx="45720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9DAEBE"/>
                </a:solidFill>
                <a:latin typeface="Aptos"/>
              </a:rPr>
              <a:t>Phase-2 Project Presentation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55680" y="6519672"/>
            <a:ext cx="41148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00" b="0">
                <a:solidFill>
                  <a:srgbClr val="9DAEBE"/>
                </a:solidFill>
                <a:latin typeface="Aptos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41D7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20040"/>
            <a:ext cx="5943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41D7AA"/>
                </a:solidFill>
                <a:latin typeface="Aptos"/>
              </a:rPr>
              <a:t>SENTINELAI | IOT SECURITY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21792"/>
            <a:ext cx="109728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>
                <a:solidFill>
                  <a:srgbClr val="EBF1F7"/>
                </a:solidFill>
                <a:latin typeface="Aptos"/>
              </a:rPr>
              <a:t>Validation and reproducibility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76656" y="1417320"/>
            <a:ext cx="3429000" cy="3383280"/>
          </a:xfrm>
          <a:prstGeom prst="roundRect">
            <a:avLst/>
          </a:prstGeom>
          <a:solidFill>
            <a:srgbClr val="151B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76656" y="1417320"/>
            <a:ext cx="73152" cy="3383280"/>
          </a:xfrm>
          <a:prstGeom prst="rect">
            <a:avLst/>
          </a:prstGeom>
          <a:solidFill>
            <a:srgbClr val="41D7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32688" y="1618488"/>
            <a:ext cx="301752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EBF1F7"/>
                </a:solidFill>
                <a:latin typeface="Aptos"/>
              </a:rPr>
              <a:t>Model artifact checks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" y="2011680"/>
            <a:ext cx="3017520" cy="2633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9DAEBE"/>
                </a:solidFill>
                <a:latin typeface="Aptos"/>
              </a:rPr>
              <a:t>FastAPI loads the Kitsune classifier, Edge-IIoT binary classifier, and Edge-IIoT attack-type classifier at startup.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1417320"/>
            <a:ext cx="3429000" cy="3383280"/>
          </a:xfrm>
          <a:prstGeom prst="roundRect">
            <a:avLst/>
          </a:prstGeom>
          <a:solidFill>
            <a:srgbClr val="151B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389120" y="1417320"/>
            <a:ext cx="73152" cy="3383280"/>
          </a:xfrm>
          <a:prstGeom prst="rect">
            <a:avLst/>
          </a:prstGeom>
          <a:solidFill>
            <a:srgbClr val="4EBF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45152" y="1618488"/>
            <a:ext cx="301752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EBF1F7"/>
                </a:solidFill>
                <a:latin typeface="Aptos"/>
              </a:rPr>
              <a:t>API checks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45152" y="2011680"/>
            <a:ext cx="3017520" cy="2633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9DAEBE"/>
                </a:solidFill>
                <a:latin typeface="Aptos"/>
              </a:rPr>
              <a:t>Backend health and each prediction endpoint returned HTTP 200 during verification.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01583" y="1417320"/>
            <a:ext cx="3429000" cy="3383280"/>
          </a:xfrm>
          <a:prstGeom prst="roundRect">
            <a:avLst/>
          </a:prstGeom>
          <a:solidFill>
            <a:srgbClr val="151B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101583" y="1417320"/>
            <a:ext cx="73152" cy="3383280"/>
          </a:xfrm>
          <a:prstGeom prst="rect">
            <a:avLst/>
          </a:prstGeom>
          <a:solidFill>
            <a:srgbClr val="F5B7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57615" y="1618488"/>
            <a:ext cx="301752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EBF1F7"/>
                </a:solidFill>
                <a:latin typeface="Aptos"/>
              </a:rPr>
              <a:t>Evidence retained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57615" y="2011680"/>
            <a:ext cx="3017520" cy="2633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9DAEBE"/>
                </a:solidFill>
                <a:latin typeface="Aptos"/>
              </a:rPr>
              <a:t>Kaggle metrics JSON, local model metadata, held-out demo fixture, dashboard, and runbook are included in the project.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66928" y="6519672"/>
            <a:ext cx="45720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9DAEBE"/>
                </a:solidFill>
                <a:latin typeface="Aptos"/>
              </a:rPr>
              <a:t>Phase-2 Project Presentation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55680" y="6519672"/>
            <a:ext cx="41148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00" b="0">
                <a:solidFill>
                  <a:srgbClr val="9DAEBE"/>
                </a:solidFill>
                <a:latin typeface="Aptos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41D7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20040"/>
            <a:ext cx="5943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41D7AA"/>
                </a:solidFill>
                <a:latin typeface="Aptos"/>
              </a:rPr>
              <a:t>SENTINELAI | IOT SECURITY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21792"/>
            <a:ext cx="109728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>
                <a:solidFill>
                  <a:srgbClr val="EBF1F7"/>
                </a:solidFill>
                <a:latin typeface="Aptos"/>
              </a:rPr>
              <a:t>Conclusion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" y="1600200"/>
            <a:ext cx="9875520" cy="713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600" b="1">
                <a:solidFill>
                  <a:srgbClr val="EBF1F7"/>
                </a:solidFill>
                <a:latin typeface="Aptos"/>
              </a:rPr>
              <a:t>SentinelAI now combines a working local SOC monitor with trained IoT threat classifiers and a transparent, repeatable model-validation workflow.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417320" y="2971800"/>
            <a:ext cx="9372600" cy="1353312"/>
          </a:xfrm>
          <a:prstGeom prst="roundRect">
            <a:avLst/>
          </a:prstGeom>
          <a:solidFill>
            <a:srgbClr val="151B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783080" y="3291840"/>
            <a:ext cx="864108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800" b="1">
                <a:solidFill>
                  <a:srgbClr val="41D7AA"/>
                </a:solidFill>
                <a:latin typeface="Aptos"/>
              </a:rPr>
              <a:t>Live traffic: anomaly monitoring
Supervised data: binary and 15-class prediction
Presentation: accurate evidence and reproducible demonstration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5577840"/>
            <a:ext cx="1083564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200" b="0">
                <a:solidFill>
                  <a:srgbClr val="9DAEBE"/>
                </a:solidFill>
                <a:latin typeface="Aptos"/>
              </a:rPr>
              <a:t>Thank you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519672"/>
            <a:ext cx="45720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9DAEBE"/>
                </a:solidFill>
                <a:latin typeface="Aptos"/>
              </a:rPr>
              <a:t>Phase-2 Project Presentation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55680" y="6519672"/>
            <a:ext cx="41148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00" b="0">
                <a:solidFill>
                  <a:srgbClr val="9DAEBE"/>
                </a:solidFill>
                <a:latin typeface="Aptos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41D7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20040"/>
            <a:ext cx="5943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41D7AA"/>
                </a:solidFill>
                <a:latin typeface="Aptos"/>
              </a:rPr>
              <a:t>SENTINELAI | IOT SECURITY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21792"/>
            <a:ext cx="109728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>
                <a:solidFill>
                  <a:srgbClr val="EBF1F7"/>
                </a:solidFill>
                <a:latin typeface="Aptos"/>
              </a:rPr>
              <a:t>References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417320"/>
            <a:ext cx="10515600" cy="39319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200"/>
              </a:spcAft>
              <a:defRPr sz="1600">
                <a:solidFill>
                  <a:srgbClr val="EBF1F7"/>
                </a:solidFill>
                <a:latin typeface="Aptos"/>
              </a:defRPr>
            </a:pPr>
            <a:r>
              <a:t>Ferrag, M. A. et al. Edge-IIoTset: a comprehensive realistic cyber security dataset of IoT and IIoT applications. IEEE DataPort, 2022.</a:t>
            </a:r>
          </a:p>
          <a:p>
            <a:pPr>
              <a:spcAft>
                <a:spcPts val="1200"/>
              </a:spcAft>
              <a:defRPr sz="1600">
                <a:solidFill>
                  <a:srgbClr val="EBF1F7"/>
                </a:solidFill>
                <a:latin typeface="Aptos"/>
              </a:defRPr>
            </a:pPr>
            <a:r>
              <a:t>Mirsky, Y. et al. Kitsune: An Ensemble of Autoencoders for Online Network Intrusion Detection. NDSS, 2018.</a:t>
            </a:r>
          </a:p>
          <a:p>
            <a:pPr>
              <a:spcAft>
                <a:spcPts val="1200"/>
              </a:spcAft>
              <a:defRPr sz="1600">
                <a:solidFill>
                  <a:srgbClr val="EBF1F7"/>
                </a:solidFill>
                <a:latin typeface="Aptos"/>
              </a:defRPr>
            </a:pPr>
            <a:r>
              <a:t>Kaggle: Edge-IIoTset Cyber Security Dataset of IoT &amp; IIoT applications; Kitsune Network Attack Dataset.</a:t>
            </a:r>
          </a:p>
          <a:p>
            <a:pPr>
              <a:spcAft>
                <a:spcPts val="1200"/>
              </a:spcAft>
              <a:defRPr sz="1600">
                <a:solidFill>
                  <a:srgbClr val="EBF1F7"/>
                </a:solidFill>
                <a:latin typeface="Aptos"/>
              </a:defRPr>
            </a:pPr>
            <a:r>
              <a:t>Project source, local Kaggle training runs, and model metrics recorded in the repository documentation.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519672"/>
            <a:ext cx="45720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9DAEBE"/>
                </a:solidFill>
                <a:latin typeface="Aptos"/>
              </a:rPr>
              <a:t>Phase-2 Project Presentation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19672"/>
            <a:ext cx="41148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00" b="0">
                <a:solidFill>
                  <a:srgbClr val="9DAEBE"/>
                </a:solidFill>
                <a:latin typeface="Aptos"/>
              </a:rPr>
              <a:t>13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